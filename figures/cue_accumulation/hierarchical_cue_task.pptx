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446000" cy="736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97021" y="118110"/>
            <a:ext cx="5251958" cy="5257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2300" b="1" i="0">
                <a:solidFill>
                  <a:srgbClr val="3F3F3F"/>
                </a:solidFill>
                <a:latin typeface="Helvetica Neue"/>
              </a:rPr>
              <a:t>Hierarchical cue accumulation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3796" y="549910"/>
            <a:ext cx="8598408" cy="2971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Helvetica Neue"/>
              </a:rPr>
              <a:t>Classify each temporal motif (needs depth), then count across the delay (needs time)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9000" y="1016000"/>
            <a:ext cx="5969000" cy="2184400"/>
          </a:xfrm>
          <a:prstGeom prst="roundRect">
            <a:avLst/>
          </a:prstGeom>
          <a:solidFill>
            <a:srgbClr val="FBFBFD"/>
          </a:solidFill>
          <a:ln w="15240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19960" y="1149350"/>
            <a:ext cx="3307079" cy="3429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500" b="1" i="0">
                <a:solidFill>
                  <a:srgbClr val="3F3F3F"/>
                </a:solidFill>
                <a:latin typeface="Helvetica Neue"/>
              </a:rPr>
              <a:t>Each cue is a temporal motif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879600" y="2032000"/>
            <a:ext cx="1066800" cy="0"/>
          </a:xfrm>
          <a:prstGeom prst="line">
            <a:avLst/>
          </a:prstGeom>
          <a:ln w="12700">
            <a:solidFill>
              <a:srgbClr val="7C7C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25483820000" y="22096730000"/>
            <a:ext cx="10322560000" cy="7419340000"/>
          </a:xfrm>
          <a:custGeom>
            <a:avLst/>
            <a:gdLst/>
            <a:ahLst/>
            <a:cxnLst/>
            <a:rect l="l" t="t" r="r" b="b"/>
            <a:pathLst>
              <a:path w="812800" h="584200">
                <a:moveTo>
                  <a:pt x="0" y="292100"/>
                </a:moveTo>
                <a:lnTo>
                  <a:pt x="0" y="584200"/>
                </a:lnTo>
                <a:lnTo>
                  <a:pt x="812800" y="0"/>
                </a:lnTo>
                <a:lnTo>
                  <a:pt x="812800" y="292100"/>
                </a:lnTo>
              </a:path>
            </a:pathLst>
          </a:custGeom>
          <a:noFill/>
          <a:ln w="33020">
            <a:solidFill>
              <a:srgbClr val="4C7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52370" y="2442210"/>
            <a:ext cx="921258" cy="2971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300" b="1" i="0">
                <a:solidFill>
                  <a:srgbClr val="4C78A8"/>
                </a:solidFill>
                <a:latin typeface="Helvetica Neue"/>
              </a:rPr>
              <a:t>rising  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46600" y="2032000"/>
            <a:ext cx="1066800" cy="0"/>
          </a:xfrm>
          <a:prstGeom prst="line">
            <a:avLst/>
          </a:prstGeom>
          <a:ln w="12700">
            <a:solidFill>
              <a:srgbClr val="7C7C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59354720000" y="22096730000"/>
            <a:ext cx="10322560000" cy="7419340000"/>
          </a:xfrm>
          <a:custGeom>
            <a:avLst/>
            <a:gdLst/>
            <a:ahLst/>
            <a:cxnLst/>
            <a:rect l="l" t="t" r="r" b="b"/>
            <a:pathLst>
              <a:path w="812800" h="584200">
                <a:moveTo>
                  <a:pt x="0" y="292100"/>
                </a:moveTo>
                <a:lnTo>
                  <a:pt x="0" y="0"/>
                </a:lnTo>
                <a:lnTo>
                  <a:pt x="812800" y="584200"/>
                </a:lnTo>
                <a:lnTo>
                  <a:pt x="812800" y="292100"/>
                </a:lnTo>
              </a:path>
            </a:pathLst>
          </a:custGeom>
          <a:noFill/>
          <a:ln w="33020">
            <a:solidFill>
              <a:srgbClr val="E4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8190" y="2442210"/>
            <a:ext cx="1023619" cy="2971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300" b="1" i="0">
                <a:solidFill>
                  <a:srgbClr val="E4794A"/>
                </a:solidFill>
                <a:latin typeface="Helvetica Neue"/>
              </a:rPr>
              <a:t>falling  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624" y="2871470"/>
            <a:ext cx="5889752" cy="2514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100" b="0" i="1">
                <a:solidFill>
                  <a:srgbClr val="777777"/>
                </a:solidFill>
                <a:latin typeface="Helvetica Neue"/>
              </a:rPr>
              <a:t>same mean (≈0) &amp; energy — differ only in temporal order (slope sign)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0" y="1096010"/>
            <a:ext cx="3275584" cy="2971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l"/>
            <a:r>
              <a:rPr sz="1300" b="1" i="0">
                <a:solidFill>
                  <a:srgbClr val="3F3F3F"/>
                </a:solidFill>
                <a:latin typeface="Helvetica Neue"/>
              </a:rPr>
              <a:t>Why this is harder for deep RNNs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000" y="1437640"/>
            <a:ext cx="302361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Helvetica Neue"/>
              </a:rPr>
              <a:t>The side is NOT handed over on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0" y="1678939"/>
            <a:ext cx="321259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Helvetica Neue"/>
              </a:rPr>
              <a:t>dedicated channel (as in plain cue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6000" y="1920239"/>
            <a:ext cx="321259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Helvetica Neue"/>
              </a:rPr>
              <a:t>accumulation). It is hidden in the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6000" y="2161540"/>
            <a:ext cx="330707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Helvetica Neue"/>
              </a:rPr>
              <a:t>temporal shape — so a single layer,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6000" y="2402840"/>
            <a:ext cx="321259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Helvetica Neue"/>
              </a:rPr>
              <a:t>or a random/un-learned projection,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6000" y="2644140"/>
            <a:ext cx="2456688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Helvetica Neue"/>
              </a:rPr>
              <a:t>cannot simply read it off.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8684" y="3672840"/>
            <a:ext cx="66141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r"/>
            <a:r>
              <a:rPr sz="1200" b="1" i="0">
                <a:solidFill>
                  <a:srgbClr val="3F3F3F"/>
                </a:solidFill>
                <a:latin typeface="Helvetica Neue"/>
              </a:rPr>
              <a:t>Feature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8684" y="3863340"/>
            <a:ext cx="66141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r"/>
            <a:r>
              <a:rPr sz="1200" b="1" i="0">
                <a:solidFill>
                  <a:srgbClr val="3F3F3F"/>
                </a:solidFill>
                <a:latin typeface="Helvetica Neue"/>
              </a:rPr>
              <a:t>channel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222500" y="3810000"/>
            <a:ext cx="6565900" cy="0"/>
          </a:xfrm>
          <a:prstGeom prst="line">
            <a:avLst/>
          </a:prstGeom>
          <a:ln w="13970">
            <a:solidFill>
              <a:srgbClr val="7C7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reeform 22"/>
          <p:cNvSpPr/>
          <p:nvPr/>
        </p:nvSpPr>
        <p:spPr>
          <a:xfrm>
            <a:off x="33064450000" y="44193460000"/>
            <a:ext cx="8709660000" cy="8387080000"/>
          </a:xfrm>
          <a:custGeom>
            <a:avLst/>
            <a:gdLst/>
            <a:ahLst/>
            <a:cxnLst/>
            <a:rect l="l" t="t" r="r" b="b"/>
            <a:pathLst>
              <a:path w="685800" h="660400">
                <a:moveTo>
                  <a:pt x="0" y="330200"/>
                </a:moveTo>
                <a:lnTo>
                  <a:pt x="0" y="660400"/>
                </a:lnTo>
                <a:lnTo>
                  <a:pt x="685800" y="0"/>
                </a:lnTo>
                <a:lnTo>
                  <a:pt x="685800" y="330200"/>
                </a:lnTo>
              </a:path>
            </a:pathLst>
          </a:custGeom>
          <a:noFill/>
          <a:ln w="33020">
            <a:solidFill>
              <a:srgbClr val="4C7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52096670000" y="44193460000"/>
            <a:ext cx="8709660000" cy="8387080000"/>
          </a:xfrm>
          <a:custGeom>
            <a:avLst/>
            <a:gdLst/>
            <a:ahLst/>
            <a:cxnLst/>
            <a:rect l="l" t="t" r="r" b="b"/>
            <a:pathLst>
              <a:path w="685800" h="660400">
                <a:moveTo>
                  <a:pt x="0" y="330200"/>
                </a:moveTo>
                <a:lnTo>
                  <a:pt x="0" y="0"/>
                </a:lnTo>
                <a:lnTo>
                  <a:pt x="685800" y="660400"/>
                </a:lnTo>
                <a:lnTo>
                  <a:pt x="685800" y="330200"/>
                </a:lnTo>
              </a:path>
            </a:pathLst>
          </a:custGeom>
          <a:noFill/>
          <a:ln w="33020">
            <a:solidFill>
              <a:srgbClr val="E479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1128890000" y="44193460000"/>
            <a:ext cx="8709660000" cy="8387080000"/>
          </a:xfrm>
          <a:custGeom>
            <a:avLst/>
            <a:gdLst/>
            <a:ahLst/>
            <a:cxnLst/>
            <a:rect l="l" t="t" r="r" b="b"/>
            <a:pathLst>
              <a:path w="685800" h="660400">
                <a:moveTo>
                  <a:pt x="0" y="330200"/>
                </a:moveTo>
                <a:lnTo>
                  <a:pt x="0" y="660400"/>
                </a:lnTo>
                <a:lnTo>
                  <a:pt x="685800" y="0"/>
                </a:lnTo>
                <a:lnTo>
                  <a:pt x="685800" y="330200"/>
                </a:lnTo>
              </a:path>
            </a:pathLst>
          </a:custGeom>
          <a:noFill/>
          <a:ln w="33020">
            <a:solidFill>
              <a:srgbClr val="4C7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65900" y="3378200"/>
            <a:ext cx="2222500" cy="863600"/>
          </a:xfrm>
          <a:prstGeom prst="rect">
            <a:avLst/>
          </a:prstGeom>
          <a:solidFill>
            <a:srgbClr val="ECECEC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3150" y="3495040"/>
            <a:ext cx="508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200" b="1" i="0">
                <a:solidFill>
                  <a:srgbClr val="888888"/>
                </a:solidFill>
                <a:latin typeface="Helvetica Neue"/>
              </a:rPr>
              <a:t>delay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9400" y="3302000"/>
            <a:ext cx="0" cy="1016000"/>
          </a:xfrm>
          <a:prstGeom prst="line">
            <a:avLst/>
          </a:prstGeom>
          <a:ln w="20320">
            <a:solidFill>
              <a:srgbClr val="3366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885936" y="3037840"/>
            <a:ext cx="566928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200" b="1" i="0">
                <a:solidFill>
                  <a:srgbClr val="336633"/>
                </a:solidFill>
                <a:latin typeface="Helvetica Neue"/>
              </a:rPr>
              <a:t>recall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22500" y="4470400"/>
            <a:ext cx="6642100" cy="0"/>
          </a:xfrm>
          <a:prstGeom prst="line">
            <a:avLst/>
          </a:prstGeom>
          <a:ln w="16510">
            <a:solidFill>
              <a:srgbClr val="7C7C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940800" y="4333240"/>
            <a:ext cx="508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  <a:latin typeface="Helvetica Neue"/>
              </a:rPr>
              <a:t>time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603500" y="4572000"/>
            <a:ext cx="0" cy="711200"/>
          </a:xfrm>
          <a:prstGeom prst="line">
            <a:avLst/>
          </a:prstGeom>
          <a:ln w="17780">
            <a:solidFill>
              <a:srgbClr val="7C7C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89000" y="5334000"/>
            <a:ext cx="3429000" cy="1092200"/>
          </a:xfrm>
          <a:prstGeom prst="roundRect">
            <a:avLst/>
          </a:prstGeom>
          <a:solidFill>
            <a:srgbClr val="DDEEFF"/>
          </a:solidFill>
          <a:ln w="20320">
            <a:solidFill>
              <a:srgbClr val="335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74762" y="5459095"/>
            <a:ext cx="2657475" cy="30861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350" b="1" i="0">
                <a:solidFill>
                  <a:srgbClr val="3F3F3F"/>
                </a:solidFill>
                <a:latin typeface="Helvetica Neue"/>
              </a:rPr>
              <a:t>Layer 1 — fast  (α ≈ 0.7)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4762" y="5749925"/>
            <a:ext cx="2657475" cy="28575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250" b="0" i="0">
                <a:solidFill>
                  <a:srgbClr val="3F3F3F"/>
                </a:solidFill>
                <a:latin typeface="Helvetica Neue"/>
              </a:rPr>
              <a:t>classify each motif:  ↗ / 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77518" y="6033770"/>
            <a:ext cx="2251964" cy="2514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Helvetica Neue"/>
              </a:rPr>
              <a:t>temporal feature extractor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26000" y="5334000"/>
            <a:ext cx="3429000" cy="1092200"/>
          </a:xfrm>
          <a:prstGeom prst="roundRect">
            <a:avLst/>
          </a:prstGeom>
          <a:solidFill>
            <a:srgbClr val="EEE0FF"/>
          </a:solidFill>
          <a:ln w="20320">
            <a:solidFill>
              <a:srgbClr val="5533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1762" y="5459095"/>
            <a:ext cx="2657475" cy="30861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350" b="1" i="0">
                <a:solidFill>
                  <a:srgbClr val="3F3F3F"/>
                </a:solidFill>
                <a:latin typeface="Helvetica Neue"/>
              </a:rPr>
              <a:t>Layer 2 — slow  (α ≈ 0.1)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60975" y="5749925"/>
            <a:ext cx="2559050" cy="28575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250" b="0" i="0">
                <a:solidFill>
                  <a:srgbClr val="3F3F3F"/>
                </a:solidFill>
                <a:latin typeface="Helvetica Neue"/>
              </a:rPr>
              <a:t>count + hold through delay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07430" y="6033770"/>
            <a:ext cx="866140" cy="2514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Helvetica Neue"/>
              </a:rPr>
              <a:t>integrator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90000" y="5334000"/>
            <a:ext cx="2667000" cy="1092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3F3F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04603" y="5509895"/>
            <a:ext cx="637794" cy="30861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350" b="1" i="0">
                <a:solidFill>
                  <a:srgbClr val="3F3F3F"/>
                </a:solidFill>
                <a:latin typeface="Helvetica Neue"/>
              </a:rPr>
              <a:t>Decide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55785" y="5845810"/>
            <a:ext cx="1535430" cy="2971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300" b="1" i="0">
                <a:solidFill>
                  <a:srgbClr val="336633"/>
                </a:solidFill>
                <a:latin typeface="Helvetica Neue"/>
              </a:rPr>
              <a:t>rising-majority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7044" y="6097270"/>
            <a:ext cx="692912" cy="2514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100" b="0" i="0">
                <a:solidFill>
                  <a:srgbClr val="336633"/>
                </a:solidFill>
                <a:latin typeface="Helvetica Neue"/>
              </a:rPr>
              <a:t>(2 vs 1)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68800" y="5880100"/>
            <a:ext cx="406400" cy="0"/>
          </a:xfrm>
          <a:prstGeom prst="line">
            <a:avLst/>
          </a:prstGeom>
          <a:ln w="20320">
            <a:solidFill>
              <a:srgbClr val="7C7C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305800" y="5880100"/>
            <a:ext cx="533400" cy="0"/>
          </a:xfrm>
          <a:prstGeom prst="line">
            <a:avLst/>
          </a:prstGeom>
          <a:ln w="20320">
            <a:solidFill>
              <a:srgbClr val="7C7C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203325" y="6715125"/>
            <a:ext cx="10039350" cy="28575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spAutoFit/>
          </a:bodyPr>
          <a:lstStyle/>
          <a:p>
            <a:pPr algn="ctr"/>
            <a:r>
              <a:rPr sz="1250" b="0" i="1">
                <a:solidFill>
                  <a:srgbClr val="555555"/>
                </a:solidFill>
                <a:latin typeface="Helvetica Neue"/>
              </a:rPr>
              <a:t>Credit for an early cue must travel UP (depth) and FORWARD (time) — the decisive test for deep e-prop.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