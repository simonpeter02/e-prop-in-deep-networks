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4114" y="331233"/>
            <a:ext cx="4563770" cy="4568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998" b="1" i="0">
                <a:solidFill>
                  <a:srgbClr val="3F3F3F"/>
                </a:solidFill>
                <a:latin typeface="Helvetica Neue"/>
              </a:rPr>
              <a:t>Hierarchical cue accumulation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0139" y="706452"/>
            <a:ext cx="7471720" cy="25823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129" b="0" i="1">
                <a:solidFill>
                  <a:srgbClr val="666666"/>
                </a:solidFill>
                <a:latin typeface="Helvetica Neue"/>
              </a:rPr>
              <a:t>Classify each temporal motif (needs depth), then count across the delay (needs time)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0937" y="1111468"/>
            <a:ext cx="5186855" cy="1898168"/>
          </a:xfrm>
          <a:prstGeom prst="roundRect">
            <a:avLst/>
          </a:prstGeom>
          <a:solidFill>
            <a:srgbClr val="FBFBFD"/>
          </a:solidFill>
          <a:ln w="13243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17496" y="1227345"/>
            <a:ext cx="2873738" cy="2979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303" b="1" i="0">
                <a:solidFill>
                  <a:srgbClr val="3F3F3F"/>
                </a:solidFill>
                <a:latin typeface="Helvetica Neue"/>
              </a:rPr>
              <a:t>Each cue is a temporal motif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21735" y="1994337"/>
            <a:ext cx="927012" cy="0"/>
          </a:xfrm>
          <a:prstGeom prst="line">
            <a:avLst/>
          </a:prstGeom>
          <a:ln w="12700">
            <a:solidFill>
              <a:srgbClr val="7C7C7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2438400" y="1739900"/>
            <a:ext cx="698500" cy="508000"/>
          </a:xfrm>
          <a:custGeom>
            <a:avLst/>
            <a:gdLst/>
            <a:ahLst/>
            <a:cxnLst/>
            <a:rect l="l" t="t" r="r" b="b"/>
            <a:pathLst>
              <a:path w="55" h="40">
                <a:moveTo>
                  <a:pt x="0" y="20"/>
                </a:moveTo>
                <a:lnTo>
                  <a:pt x="0" y="40"/>
                </a:lnTo>
                <a:lnTo>
                  <a:pt x="55" y="0"/>
                </a:lnTo>
                <a:lnTo>
                  <a:pt x="55" y="20"/>
                </a:lnTo>
              </a:path>
            </a:pathLst>
          </a:custGeom>
          <a:noFill/>
          <a:ln w="28693">
            <a:solidFill>
              <a:srgbClr val="4C7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4970" y="2350796"/>
            <a:ext cx="800541" cy="25823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129" b="1" i="0">
                <a:solidFill>
                  <a:srgbClr val="4C78A8"/>
                </a:solidFill>
                <a:latin typeface="Helvetica Neue"/>
              </a:rPr>
              <a:t>rising  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39266" y="1994337"/>
            <a:ext cx="927012" cy="0"/>
          </a:xfrm>
          <a:prstGeom prst="line">
            <a:avLst/>
          </a:prstGeom>
          <a:ln w="12700">
            <a:solidFill>
              <a:srgbClr val="7C7C7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4749800" y="1739900"/>
            <a:ext cx="711200" cy="508000"/>
          </a:xfrm>
          <a:custGeom>
            <a:avLst/>
            <a:gdLst/>
            <a:ahLst/>
            <a:cxnLst/>
            <a:rect l="l" t="t" r="r" b="b"/>
            <a:pathLst>
              <a:path w="56" h="40">
                <a:moveTo>
                  <a:pt x="0" y="20"/>
                </a:moveTo>
                <a:lnTo>
                  <a:pt x="0" y="0"/>
                </a:lnTo>
                <a:lnTo>
                  <a:pt x="56" y="40"/>
                </a:lnTo>
                <a:lnTo>
                  <a:pt x="56" y="20"/>
                </a:lnTo>
              </a:path>
            </a:pathLst>
          </a:custGeom>
          <a:noFill/>
          <a:ln w="28693">
            <a:solidFill>
              <a:srgbClr val="E4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8027" y="2350796"/>
            <a:ext cx="889490" cy="25823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129" b="1" i="0">
                <a:solidFill>
                  <a:srgbClr val="E4794A"/>
                </a:solidFill>
                <a:latin typeface="Helvetica Neue"/>
              </a:rPr>
              <a:t>falling  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5369" y="2723808"/>
            <a:ext cx="5117991" cy="218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955" b="0" i="1">
                <a:solidFill>
                  <a:srgbClr val="777777"/>
                </a:solidFill>
                <a:latin typeface="Helvetica Neue"/>
              </a:rPr>
              <a:t>same mean (≈0) &amp; energy — differ only in temporal order (slope sign)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9227" y="1180994"/>
            <a:ext cx="2846369" cy="25823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l"/>
            <a:r>
              <a:rPr sz="1129" b="1" i="0">
                <a:solidFill>
                  <a:srgbClr val="3F3F3F"/>
                </a:solidFill>
                <a:latin typeface="Helvetica Neue"/>
              </a:rPr>
              <a:t>Why this is harder for deep RNNs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9227" y="1477859"/>
            <a:ext cx="2627418" cy="2383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l"/>
            <a:r>
              <a:rPr sz="1042" b="0" i="0">
                <a:solidFill>
                  <a:srgbClr val="555555"/>
                </a:solidFill>
                <a:latin typeface="Helvetica Neue"/>
              </a:rPr>
              <a:t>The side is NOT handed over on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9227" y="1687540"/>
            <a:ext cx="2791631" cy="2383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l"/>
            <a:r>
              <a:rPr sz="1042" b="0" i="0">
                <a:solidFill>
                  <a:srgbClr val="555555"/>
                </a:solidFill>
                <a:latin typeface="Helvetica Neue"/>
              </a:rPr>
              <a:t>dedicated channel (as in plain cue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9227" y="1897222"/>
            <a:ext cx="2791631" cy="2383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l"/>
            <a:r>
              <a:rPr sz="1042" b="0" i="0">
                <a:solidFill>
                  <a:srgbClr val="555555"/>
                </a:solidFill>
                <a:latin typeface="Helvetica Neue"/>
              </a:rPr>
              <a:t>accumulation). It is hidden in 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9227" y="2106903"/>
            <a:ext cx="2873738" cy="2383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l"/>
            <a:r>
              <a:rPr sz="1042" b="0" i="0">
                <a:solidFill>
                  <a:srgbClr val="555555"/>
                </a:solidFill>
                <a:latin typeface="Helvetica Neue"/>
              </a:rPr>
              <a:t>temporal shape — so a single layer,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9227" y="2316585"/>
            <a:ext cx="2791631" cy="2383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l"/>
            <a:r>
              <a:rPr sz="1042" b="0" i="0">
                <a:solidFill>
                  <a:srgbClr val="555555"/>
                </a:solidFill>
                <a:latin typeface="Helvetica Neue"/>
              </a:rPr>
              <a:t>or a random/un-learned projection,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9227" y="2526266"/>
            <a:ext cx="2134777" cy="2383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l"/>
            <a:r>
              <a:rPr sz="1042" b="0" i="0">
                <a:solidFill>
                  <a:srgbClr val="555555"/>
                </a:solidFill>
                <a:latin typeface="Helvetica Neue"/>
              </a:rPr>
              <a:t>cannot simply read it off.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12525" y="3420171"/>
            <a:ext cx="574747" cy="2383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r"/>
            <a:r>
              <a:rPr sz="1042" b="1" i="0">
                <a:solidFill>
                  <a:srgbClr val="3F3F3F"/>
                </a:solidFill>
                <a:latin typeface="Helvetica Neue"/>
              </a:rPr>
              <a:t>Feature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12525" y="3585709"/>
            <a:ext cx="574747" cy="2383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r"/>
            <a:r>
              <a:rPr sz="1042" b="1" i="0">
                <a:solidFill>
                  <a:srgbClr val="3F3F3F"/>
                </a:solidFill>
                <a:latin typeface="Helvetica Neue"/>
              </a:rPr>
              <a:t>channel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19703" y="3539358"/>
            <a:ext cx="5705541" cy="0"/>
          </a:xfrm>
          <a:prstGeom prst="line">
            <a:avLst/>
          </a:prstGeom>
          <a:ln w="12700">
            <a:solidFill>
              <a:srgbClr val="7C7C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reeform 22"/>
          <p:cNvSpPr/>
          <p:nvPr/>
        </p:nvSpPr>
        <p:spPr>
          <a:xfrm>
            <a:off x="2946400" y="3251200"/>
            <a:ext cx="596900" cy="571500"/>
          </a:xfrm>
          <a:custGeom>
            <a:avLst/>
            <a:gdLst/>
            <a:ahLst/>
            <a:cxnLst/>
            <a:rect l="l" t="t" r="r" b="b"/>
            <a:pathLst>
              <a:path w="47" h="45">
                <a:moveTo>
                  <a:pt x="0" y="23"/>
                </a:moveTo>
                <a:lnTo>
                  <a:pt x="0" y="45"/>
                </a:lnTo>
                <a:lnTo>
                  <a:pt x="47" y="0"/>
                </a:lnTo>
                <a:lnTo>
                  <a:pt x="47" y="23"/>
                </a:lnTo>
              </a:path>
            </a:pathLst>
          </a:custGeom>
          <a:noFill/>
          <a:ln w="28693">
            <a:solidFill>
              <a:srgbClr val="4C7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254500" y="3251200"/>
            <a:ext cx="596900" cy="571500"/>
          </a:xfrm>
          <a:custGeom>
            <a:avLst/>
            <a:gdLst/>
            <a:ahLst/>
            <a:cxnLst/>
            <a:rect l="l" t="t" r="r" b="b"/>
            <a:pathLst>
              <a:path w="47" h="45">
                <a:moveTo>
                  <a:pt x="0" y="23"/>
                </a:moveTo>
                <a:lnTo>
                  <a:pt x="0" y="0"/>
                </a:lnTo>
                <a:lnTo>
                  <a:pt x="47" y="45"/>
                </a:lnTo>
                <a:lnTo>
                  <a:pt x="47" y="23"/>
                </a:lnTo>
              </a:path>
            </a:pathLst>
          </a:custGeom>
          <a:noFill/>
          <a:ln w="28693">
            <a:solidFill>
              <a:srgbClr val="E47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5549900" y="3251200"/>
            <a:ext cx="596900" cy="571500"/>
          </a:xfrm>
          <a:custGeom>
            <a:avLst/>
            <a:gdLst/>
            <a:ahLst/>
            <a:cxnLst/>
            <a:rect l="l" t="t" r="r" b="b"/>
            <a:pathLst>
              <a:path w="47" h="45">
                <a:moveTo>
                  <a:pt x="0" y="23"/>
                </a:moveTo>
                <a:lnTo>
                  <a:pt x="0" y="45"/>
                </a:lnTo>
                <a:lnTo>
                  <a:pt x="47" y="0"/>
                </a:lnTo>
                <a:lnTo>
                  <a:pt x="47" y="23"/>
                </a:lnTo>
              </a:path>
            </a:pathLst>
          </a:custGeom>
          <a:noFill/>
          <a:ln w="28693">
            <a:solidFill>
              <a:srgbClr val="4C7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93968" y="3164139"/>
            <a:ext cx="1931275" cy="750438"/>
          </a:xfrm>
          <a:prstGeom prst="rect">
            <a:avLst/>
          </a:prstGeom>
          <a:solidFill>
            <a:srgbClr val="ECECEC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8888" y="3265669"/>
            <a:ext cx="441434" cy="2383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042" b="1" i="0">
                <a:solidFill>
                  <a:srgbClr val="888888"/>
                </a:solidFill>
                <a:latin typeface="Helvetica Neue"/>
              </a:rPr>
              <a:t>delay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56320" y="3097924"/>
            <a:ext cx="0" cy="882869"/>
          </a:xfrm>
          <a:prstGeom prst="line">
            <a:avLst/>
          </a:prstGeom>
          <a:ln w="17657">
            <a:solidFill>
              <a:srgbClr val="3366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09999" y="2868378"/>
            <a:ext cx="492640" cy="2383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042" b="1" i="0">
                <a:solidFill>
                  <a:srgbClr val="336633"/>
                </a:solidFill>
                <a:latin typeface="Helvetica Neue"/>
              </a:rPr>
              <a:t>recall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19703" y="4113223"/>
            <a:ext cx="5771756" cy="0"/>
          </a:xfrm>
          <a:prstGeom prst="line">
            <a:avLst/>
          </a:prstGeom>
          <a:ln w="14346">
            <a:solidFill>
              <a:srgbClr val="7C7C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57674" y="3994036"/>
            <a:ext cx="441434" cy="2383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l"/>
            <a:r>
              <a:rPr sz="1042" b="0" i="0">
                <a:solidFill>
                  <a:srgbClr val="888888"/>
                </a:solidFill>
                <a:latin typeface="Helvetica Neue"/>
              </a:rPr>
              <a:t>time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950779" y="4201510"/>
            <a:ext cx="0" cy="618008"/>
          </a:xfrm>
          <a:prstGeom prst="line">
            <a:avLst/>
          </a:prstGeom>
          <a:ln w="15450">
            <a:solidFill>
              <a:srgbClr val="7C7C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460937" y="4863662"/>
            <a:ext cx="2979682" cy="949084"/>
          </a:xfrm>
          <a:prstGeom prst="roundRect">
            <a:avLst/>
          </a:prstGeom>
          <a:solidFill>
            <a:srgbClr val="DDEEFF"/>
          </a:solidFill>
          <a:ln w="17657">
            <a:solidFill>
              <a:srgbClr val="33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96152" y="4972365"/>
            <a:ext cx="2309254" cy="26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173" b="1" i="0">
                <a:solidFill>
                  <a:srgbClr val="3F3F3F"/>
                </a:solidFill>
                <a:latin typeface="Helvetica Neue"/>
              </a:rPr>
              <a:t>Layer 1 — fast  (α ≈ 0.7)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96152" y="5225086"/>
            <a:ext cx="2309254" cy="2483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086" b="0" i="0">
                <a:solidFill>
                  <a:srgbClr val="3F3F3F"/>
                </a:solidFill>
                <a:latin typeface="Helvetica Neue"/>
              </a:rPr>
              <a:t>classify each motif:  ↗ / 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72339" y="5471738"/>
            <a:ext cx="1956879" cy="218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955" b="0" i="1">
                <a:solidFill>
                  <a:srgbClr val="666666"/>
                </a:solidFill>
                <a:latin typeface="Helvetica Neue"/>
              </a:rPr>
              <a:t>temporal feature extractor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82055" y="4863662"/>
            <a:ext cx="2979682" cy="949084"/>
          </a:xfrm>
          <a:prstGeom prst="roundRect">
            <a:avLst/>
          </a:prstGeom>
          <a:solidFill>
            <a:srgbClr val="EEE0FF"/>
          </a:solidFill>
          <a:ln w="17657">
            <a:solidFill>
              <a:srgbClr val="553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7269" y="4972365"/>
            <a:ext cx="2309254" cy="26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173" b="1" i="0">
                <a:solidFill>
                  <a:srgbClr val="3F3F3F"/>
                </a:solidFill>
                <a:latin typeface="Helvetica Neue"/>
              </a:rPr>
              <a:t>Layer 2 — slow  (α ≈ 0.1)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60033" y="5225086"/>
            <a:ext cx="2223726" cy="2483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086" b="0" i="0">
                <a:solidFill>
                  <a:srgbClr val="3F3F3F"/>
                </a:solidFill>
                <a:latin typeface="Helvetica Neue"/>
              </a:rPr>
              <a:t>count + hold through delay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95573" y="5471738"/>
            <a:ext cx="752645" cy="218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955" b="0" i="1">
                <a:solidFill>
                  <a:srgbClr val="666666"/>
                </a:solidFill>
                <a:latin typeface="Helvetica Neue"/>
              </a:rPr>
              <a:t>integrator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3531" y="4863662"/>
            <a:ext cx="2317531" cy="949084"/>
          </a:xfrm>
          <a:prstGeom prst="roundRect">
            <a:avLst/>
          </a:prstGeom>
          <a:solidFill>
            <a:srgbClr val="FFFFFF"/>
          </a:solidFill>
          <a:ln w="17657">
            <a:solidFill>
              <a:srgbClr val="3F3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95186" y="5016508"/>
            <a:ext cx="554220" cy="268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173" b="1" i="0">
                <a:solidFill>
                  <a:srgbClr val="3F3F3F"/>
                </a:solidFill>
                <a:latin typeface="Helvetica Neue"/>
              </a:rPr>
              <a:t>Decide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5178" y="5308407"/>
            <a:ext cx="1334235" cy="25823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129" b="1" i="0">
                <a:solidFill>
                  <a:srgbClr val="336633"/>
                </a:solidFill>
                <a:latin typeface="Helvetica Neue"/>
              </a:rPr>
              <a:t>rising-majority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1238" y="5526917"/>
            <a:ext cx="602116" cy="2185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955" b="0" i="0">
                <a:solidFill>
                  <a:srgbClr val="336633"/>
                </a:solidFill>
                <a:latin typeface="Helvetica Neue"/>
              </a:rPr>
              <a:t>(2 vs 1)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484764" y="5338204"/>
            <a:ext cx="353147" cy="0"/>
          </a:xfrm>
          <a:prstGeom prst="line">
            <a:avLst/>
          </a:prstGeom>
          <a:ln w="17657">
            <a:solidFill>
              <a:srgbClr val="7C7C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905881" y="5338204"/>
            <a:ext cx="463506" cy="0"/>
          </a:xfrm>
          <a:prstGeom prst="line">
            <a:avLst/>
          </a:prstGeom>
          <a:ln w="17657">
            <a:solidFill>
              <a:srgbClr val="7C7C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734075" y="6063812"/>
            <a:ext cx="8723848" cy="24830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  <a:spAutoFit/>
          </a:bodyPr>
          <a:lstStyle/>
          <a:p>
            <a:pPr algn="ctr"/>
            <a:r>
              <a:rPr sz="1086" b="0" i="1">
                <a:solidFill>
                  <a:srgbClr val="555555"/>
                </a:solidFill>
                <a:latin typeface="Helvetica Neue"/>
              </a:rPr>
              <a:t>Credit for an early cue must travel UP (depth) and FORWARD (time) — the decisive test for deep e-prop.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