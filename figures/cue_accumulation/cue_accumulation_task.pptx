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01514" y="1342405"/>
            <a:ext cx="2788970" cy="5060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2213" b="1" i="0">
                <a:solidFill>
                  <a:srgbClr val="3F3F3F"/>
                </a:solidFill>
                <a:latin typeface="Helvetica Neue"/>
              </a:rPr>
              <a:t>Cue accumulation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3184" y="1770237"/>
            <a:ext cx="8965631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251" b="0" i="1">
                <a:solidFill>
                  <a:srgbClr val="666666"/>
                </a:solidFill>
                <a:latin typeface="Helvetica Neue"/>
              </a:rPr>
              <a:t>Brief left / right pulses  →  accumulate across a silent delay  →  report the majority side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45518" y="2915602"/>
            <a:ext cx="6136323" cy="0"/>
          </a:xfrm>
          <a:prstGeom prst="line">
            <a:avLst/>
          </a:prstGeom>
          <a:ln w="14668">
            <a:solidFill>
              <a:srgbClr val="7C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45518" y="3844607"/>
            <a:ext cx="6136323" cy="0"/>
          </a:xfrm>
          <a:prstGeom prst="line">
            <a:avLst/>
          </a:prstGeom>
          <a:ln w="14668">
            <a:solidFill>
              <a:srgbClr val="7C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6198" y="2772584"/>
            <a:ext cx="788187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r"/>
            <a:r>
              <a:rPr sz="1251" b="1" i="0">
                <a:solidFill>
                  <a:srgbClr val="4C78A8"/>
                </a:solidFill>
                <a:latin typeface="Helvetica Neue"/>
              </a:rPr>
              <a:t>Left 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7675" y="3701589"/>
            <a:ext cx="886710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r"/>
            <a:r>
              <a:rPr sz="1251" b="1" i="0">
                <a:solidFill>
                  <a:srgbClr val="E4794A"/>
                </a:solidFill>
                <a:latin typeface="Helvetica Neue"/>
              </a:rPr>
              <a:t>Right cue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4853" y="2328862"/>
            <a:ext cx="2566987" cy="166243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2038" y="2405872"/>
            <a:ext cx="492617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251" b="1" i="0">
                <a:solidFill>
                  <a:srgbClr val="888888"/>
                </a:solidFill>
                <a:latin typeface="Helvetica Neue"/>
              </a:rPr>
              <a:t>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151" y="2647902"/>
            <a:ext cx="1000391" cy="2420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58" b="0" i="1">
                <a:solidFill>
                  <a:srgbClr val="999999"/>
                </a:solidFill>
                <a:latin typeface="Helvetica Neue"/>
              </a:rPr>
              <a:t>(silent gap)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24100" y="2400300"/>
            <a:ext cx="342900" cy="520700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0" y="41"/>
                </a:moveTo>
                <a:lnTo>
                  <a:pt x="5" y="41"/>
                </a:lnTo>
                <a:lnTo>
                  <a:pt x="5" y="0"/>
                </a:lnTo>
                <a:lnTo>
                  <a:pt x="21" y="0"/>
                </a:lnTo>
                <a:lnTo>
                  <a:pt x="21" y="41"/>
                </a:lnTo>
                <a:lnTo>
                  <a:pt x="27" y="41"/>
                </a:lnTo>
              </a:path>
            </a:pathLst>
          </a:custGeom>
          <a:noFill/>
          <a:ln w="29337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5518" y="2157730"/>
            <a:ext cx="488950" cy="22002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62" b="0" i="0">
                <a:solidFill>
                  <a:srgbClr val="4C78A8"/>
                </a:solidFill>
                <a:latin typeface="Helvetica Neue"/>
              </a:rPr>
              <a:t>+1</a:t>
            </a:r>
          </a:p>
        </p:txBody>
      </p:sp>
      <p:sp>
        <p:nvSpPr>
          <p:cNvPr id="13" name="Freeform 12"/>
          <p:cNvSpPr/>
          <p:nvPr/>
        </p:nvSpPr>
        <p:spPr>
          <a:xfrm>
            <a:off x="3048000" y="3327400"/>
            <a:ext cx="342900" cy="520700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0" y="41"/>
                </a:moveTo>
                <a:lnTo>
                  <a:pt x="6" y="41"/>
                </a:lnTo>
                <a:lnTo>
                  <a:pt x="6" y="0"/>
                </a:lnTo>
                <a:lnTo>
                  <a:pt x="22" y="0"/>
                </a:lnTo>
                <a:lnTo>
                  <a:pt x="22" y="41"/>
                </a:lnTo>
                <a:lnTo>
                  <a:pt x="27" y="41"/>
                </a:lnTo>
              </a:path>
            </a:pathLst>
          </a:custGeom>
          <a:noFill/>
          <a:ln w="29337">
            <a:solidFill>
              <a:srgbClr val="E4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8943" y="3930173"/>
            <a:ext cx="488950" cy="22002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62" b="0" i="0">
                <a:solidFill>
                  <a:srgbClr val="E4794A"/>
                </a:solidFill>
                <a:latin typeface="Helvetica Neue"/>
              </a:rPr>
              <a:t>+1</a:t>
            </a:r>
          </a:p>
        </p:txBody>
      </p:sp>
      <p:sp>
        <p:nvSpPr>
          <p:cNvPr id="15" name="Freeform 14"/>
          <p:cNvSpPr/>
          <p:nvPr/>
        </p:nvSpPr>
        <p:spPr>
          <a:xfrm>
            <a:off x="3784600" y="2400300"/>
            <a:ext cx="342900" cy="520700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0" y="41"/>
                </a:moveTo>
                <a:lnTo>
                  <a:pt x="6" y="41"/>
                </a:lnTo>
                <a:lnTo>
                  <a:pt x="6" y="0"/>
                </a:lnTo>
                <a:lnTo>
                  <a:pt x="21" y="0"/>
                </a:lnTo>
                <a:lnTo>
                  <a:pt x="21" y="41"/>
                </a:lnTo>
                <a:lnTo>
                  <a:pt x="27" y="41"/>
                </a:lnTo>
              </a:path>
            </a:pathLst>
          </a:custGeom>
          <a:noFill/>
          <a:ln w="29337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368" y="2157730"/>
            <a:ext cx="488950" cy="22002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62" b="0" i="0">
                <a:solidFill>
                  <a:srgbClr val="4C78A8"/>
                </a:solidFill>
                <a:latin typeface="Helvetica Neue"/>
              </a:rPr>
              <a:t>+1</a:t>
            </a:r>
          </a:p>
        </p:txBody>
      </p:sp>
      <p:sp>
        <p:nvSpPr>
          <p:cNvPr id="17" name="Freeform 16"/>
          <p:cNvSpPr/>
          <p:nvPr/>
        </p:nvSpPr>
        <p:spPr>
          <a:xfrm>
            <a:off x="4521200" y="2400300"/>
            <a:ext cx="342900" cy="520700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0" y="41"/>
                </a:moveTo>
                <a:lnTo>
                  <a:pt x="6" y="41"/>
                </a:lnTo>
                <a:lnTo>
                  <a:pt x="6" y="0"/>
                </a:lnTo>
                <a:lnTo>
                  <a:pt x="21" y="0"/>
                </a:lnTo>
                <a:lnTo>
                  <a:pt x="21" y="41"/>
                </a:lnTo>
                <a:lnTo>
                  <a:pt x="27" y="41"/>
                </a:lnTo>
              </a:path>
            </a:pathLst>
          </a:custGeom>
          <a:noFill/>
          <a:ln w="29337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5793" y="2157730"/>
            <a:ext cx="488950" cy="22002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62" b="0" i="0">
                <a:solidFill>
                  <a:srgbClr val="4C78A8"/>
                </a:solidFill>
                <a:latin typeface="Helvetica Neue"/>
              </a:rPr>
              <a:t>+1</a:t>
            </a:r>
          </a:p>
        </p:txBody>
      </p:sp>
      <p:sp>
        <p:nvSpPr>
          <p:cNvPr id="19" name="Freeform 18"/>
          <p:cNvSpPr/>
          <p:nvPr/>
        </p:nvSpPr>
        <p:spPr>
          <a:xfrm>
            <a:off x="5257800" y="3327400"/>
            <a:ext cx="342900" cy="520700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0" y="41"/>
                </a:moveTo>
                <a:lnTo>
                  <a:pt x="5" y="41"/>
                </a:lnTo>
                <a:lnTo>
                  <a:pt x="5" y="0"/>
                </a:lnTo>
                <a:lnTo>
                  <a:pt x="21" y="0"/>
                </a:lnTo>
                <a:lnTo>
                  <a:pt x="21" y="41"/>
                </a:lnTo>
                <a:lnTo>
                  <a:pt x="27" y="41"/>
                </a:lnTo>
              </a:path>
            </a:pathLst>
          </a:custGeom>
          <a:noFill/>
          <a:ln w="29337">
            <a:solidFill>
              <a:srgbClr val="E4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9218" y="3930173"/>
            <a:ext cx="488950" cy="22002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62" b="0" i="0">
                <a:solidFill>
                  <a:srgbClr val="E4794A"/>
                </a:solidFill>
                <a:latin typeface="Helvetica Neue"/>
              </a:rPr>
              <a:t>+1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5518" y="4382452"/>
            <a:ext cx="6209665" cy="0"/>
          </a:xfrm>
          <a:prstGeom prst="line">
            <a:avLst/>
          </a:prstGeom>
          <a:ln w="17113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28526" y="4250436"/>
            <a:ext cx="488950" cy="2640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155" b="0" i="0">
                <a:solidFill>
                  <a:srgbClr val="888888"/>
                </a:solidFill>
                <a:latin typeface="Helvetica Neue"/>
              </a:rPr>
              <a:t>time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97448" y="2328862"/>
            <a:ext cx="0" cy="2053590"/>
          </a:xfrm>
          <a:prstGeom prst="line">
            <a:avLst/>
          </a:prstGeom>
          <a:ln w="19558">
            <a:solidFill>
              <a:srgbClr val="3366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24614" y="2050161"/>
            <a:ext cx="545668" cy="2640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55" b="1" i="0">
                <a:solidFill>
                  <a:srgbClr val="336633"/>
                </a:solidFill>
                <a:latin typeface="Helvetica Neue"/>
              </a:rPr>
              <a:t>recall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46343" y="2988945"/>
            <a:ext cx="268923" cy="0"/>
          </a:xfrm>
          <a:prstGeom prst="line">
            <a:avLst/>
          </a:prstGeom>
          <a:ln w="18335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64161" y="2597785"/>
            <a:ext cx="2395855" cy="782320"/>
          </a:xfrm>
          <a:prstGeom prst="roundRect">
            <a:avLst/>
          </a:prstGeom>
          <a:solidFill>
            <a:srgbClr val="FFFFFF"/>
          </a:solidFill>
          <a:ln w="19558">
            <a:solidFill>
              <a:srgbClr val="3F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2424" y="2748137"/>
            <a:ext cx="1379327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251" b="1" i="0">
                <a:solidFill>
                  <a:srgbClr val="3F3F3F"/>
                </a:solidFill>
                <a:latin typeface="Helvetica Neue"/>
              </a:rPr>
              <a:t>Which side had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9471" y="2980388"/>
            <a:ext cx="985234" cy="28603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251" b="1" i="0">
                <a:solidFill>
                  <a:srgbClr val="3F3F3F"/>
                </a:solidFill>
                <a:latin typeface="Helvetica Neue"/>
              </a:rPr>
              <a:t>more cues?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4965" y="3519455"/>
            <a:ext cx="2334247" cy="30803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347" b="1" i="0">
                <a:solidFill>
                  <a:srgbClr val="336633"/>
                </a:solidFill>
                <a:latin typeface="Helvetica Neue"/>
              </a:rPr>
              <a:t>→  LEFT wins  (3 vs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