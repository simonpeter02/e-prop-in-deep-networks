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47184" y="118110"/>
            <a:ext cx="2897632" cy="5257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2300" b="1" i="0">
                <a:solidFill>
                  <a:srgbClr val="3F3F3F"/>
                </a:solidFill>
                <a:latin typeface="Helvetica Neue"/>
              </a:rPr>
              <a:t>Cue accumulation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38528" y="562610"/>
            <a:ext cx="9314942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Brief left / right pulses  →  accumulate across a silent delay  →  report the majority side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095500" y="1752600"/>
            <a:ext cx="6375400" cy="0"/>
          </a:xfrm>
          <a:prstGeom prst="line">
            <a:avLst/>
          </a:prstGeom>
          <a:ln w="15240">
            <a:solidFill>
              <a:srgbClr val="7C7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095500" y="2717800"/>
            <a:ext cx="6375400" cy="0"/>
          </a:xfrm>
          <a:prstGeom prst="line">
            <a:avLst/>
          </a:prstGeom>
          <a:ln w="15240">
            <a:solidFill>
              <a:srgbClr val="7C7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8804" y="1604010"/>
            <a:ext cx="818896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r"/>
            <a:r>
              <a:rPr sz="1300" b="1" i="0">
                <a:solidFill>
                  <a:srgbClr val="4C78A8"/>
                </a:solidFill>
                <a:latin typeface="Helvetica Neue"/>
              </a:rPr>
              <a:t>Left cue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441" y="2569210"/>
            <a:ext cx="921258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r"/>
            <a:r>
              <a:rPr sz="1300" b="1" i="0">
                <a:solidFill>
                  <a:srgbClr val="E4794A"/>
                </a:solidFill>
                <a:latin typeface="Helvetica Neue"/>
              </a:rPr>
              <a:t>Right cue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03900" y="1143000"/>
            <a:ext cx="2667000" cy="1727200"/>
          </a:xfrm>
          <a:prstGeom prst="rect">
            <a:avLst/>
          </a:prstGeom>
          <a:solidFill>
            <a:srgbClr val="ECECEC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81495" y="1223010"/>
            <a:ext cx="511809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888888"/>
                </a:solidFill>
                <a:latin typeface="Helvetica Neue"/>
              </a:rPr>
              <a:t>delay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7716" y="1474470"/>
            <a:ext cx="1039368" cy="2514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100" b="0" i="1">
                <a:solidFill>
                  <a:srgbClr val="999999"/>
                </a:solidFill>
                <a:latin typeface="Helvetica Neue"/>
              </a:rPr>
              <a:t>(silent gap)</a:t>
            </a:r>
          </a:p>
        </p:txBody>
      </p:sp>
      <p:sp>
        <p:nvSpPr>
          <p:cNvPr id="11" name="Freeform 10"/>
          <p:cNvSpPr/>
          <p:nvPr/>
        </p:nvSpPr>
        <p:spPr>
          <a:xfrm>
            <a:off x="27580590000" y="15483840000"/>
            <a:ext cx="4516120000" cy="6774180000"/>
          </a:xfrm>
          <a:custGeom>
            <a:avLst/>
            <a:gdLst/>
            <a:ahLst/>
            <a:cxnLst/>
            <a:rect l="l" t="t" r="r" b="b"/>
            <a:pathLst>
              <a:path w="355600" h="533400">
                <a:moveTo>
                  <a:pt x="0" y="533400"/>
                </a:moveTo>
                <a:lnTo>
                  <a:pt x="76200" y="533400"/>
                </a:lnTo>
                <a:lnTo>
                  <a:pt x="76200" y="0"/>
                </a:lnTo>
                <a:lnTo>
                  <a:pt x="279400" y="0"/>
                </a:lnTo>
                <a:lnTo>
                  <a:pt x="279400" y="533400"/>
                </a:lnTo>
                <a:lnTo>
                  <a:pt x="355600" y="533400"/>
                </a:lnTo>
              </a:path>
            </a:pathLst>
          </a:custGeom>
          <a:noFill/>
          <a:ln w="3048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5500" y="965200"/>
            <a:ext cx="508000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000" b="0" i="0">
                <a:solidFill>
                  <a:srgbClr val="4C78A8"/>
                </a:solidFill>
                <a:latin typeface="Helvetica Neue"/>
              </a:rPr>
              <a:t>+1</a:t>
            </a:r>
          </a:p>
        </p:txBody>
      </p:sp>
      <p:sp>
        <p:nvSpPr>
          <p:cNvPr id="13" name="Freeform 12"/>
          <p:cNvSpPr/>
          <p:nvPr/>
        </p:nvSpPr>
        <p:spPr>
          <a:xfrm>
            <a:off x="37257990000" y="27741880000"/>
            <a:ext cx="4516120000" cy="6774180000"/>
          </a:xfrm>
          <a:custGeom>
            <a:avLst/>
            <a:gdLst/>
            <a:ahLst/>
            <a:cxnLst/>
            <a:rect l="l" t="t" r="r" b="b"/>
            <a:pathLst>
              <a:path w="355600" h="533400">
                <a:moveTo>
                  <a:pt x="0" y="533400"/>
                </a:moveTo>
                <a:lnTo>
                  <a:pt x="76200" y="533400"/>
                </a:lnTo>
                <a:lnTo>
                  <a:pt x="76200" y="0"/>
                </a:lnTo>
                <a:lnTo>
                  <a:pt x="279400" y="0"/>
                </a:lnTo>
                <a:lnTo>
                  <a:pt x="279400" y="533400"/>
                </a:lnTo>
                <a:lnTo>
                  <a:pt x="355600" y="533400"/>
                </a:lnTo>
              </a:path>
            </a:pathLst>
          </a:custGeom>
          <a:noFill/>
          <a:ln w="30480">
            <a:solidFill>
              <a:srgbClr val="E4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0" y="2806700"/>
            <a:ext cx="508000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000" b="0" i="0">
                <a:solidFill>
                  <a:srgbClr val="E4794A"/>
                </a:solidFill>
                <a:latin typeface="Helvetica Neue"/>
              </a:rPr>
              <a:t>+1</a:t>
            </a:r>
          </a:p>
        </p:txBody>
      </p:sp>
      <p:sp>
        <p:nvSpPr>
          <p:cNvPr id="15" name="Freeform 14"/>
          <p:cNvSpPr/>
          <p:nvPr/>
        </p:nvSpPr>
        <p:spPr>
          <a:xfrm>
            <a:off x="46935390000" y="15483840000"/>
            <a:ext cx="4516120000" cy="6774180000"/>
          </a:xfrm>
          <a:custGeom>
            <a:avLst/>
            <a:gdLst/>
            <a:ahLst/>
            <a:cxnLst/>
            <a:rect l="l" t="t" r="r" b="b"/>
            <a:pathLst>
              <a:path w="355600" h="533400">
                <a:moveTo>
                  <a:pt x="0" y="533400"/>
                </a:moveTo>
                <a:lnTo>
                  <a:pt x="76200" y="533400"/>
                </a:lnTo>
                <a:lnTo>
                  <a:pt x="76200" y="0"/>
                </a:lnTo>
                <a:lnTo>
                  <a:pt x="279400" y="0"/>
                </a:lnTo>
                <a:lnTo>
                  <a:pt x="279400" y="533400"/>
                </a:lnTo>
                <a:lnTo>
                  <a:pt x="355600" y="533400"/>
                </a:lnTo>
              </a:path>
            </a:pathLst>
          </a:custGeom>
          <a:noFill/>
          <a:ln w="3048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0" y="965200"/>
            <a:ext cx="508000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000" b="0" i="0">
                <a:solidFill>
                  <a:srgbClr val="4C78A8"/>
                </a:solidFill>
                <a:latin typeface="Helvetica Neue"/>
              </a:rPr>
              <a:t>+1</a:t>
            </a:r>
          </a:p>
        </p:txBody>
      </p:sp>
      <p:sp>
        <p:nvSpPr>
          <p:cNvPr id="17" name="Freeform 16"/>
          <p:cNvSpPr/>
          <p:nvPr/>
        </p:nvSpPr>
        <p:spPr>
          <a:xfrm>
            <a:off x="56612790000" y="15483840000"/>
            <a:ext cx="4516120000" cy="6774180000"/>
          </a:xfrm>
          <a:custGeom>
            <a:avLst/>
            <a:gdLst/>
            <a:ahLst/>
            <a:cxnLst/>
            <a:rect l="l" t="t" r="r" b="b"/>
            <a:pathLst>
              <a:path w="355600" h="533400">
                <a:moveTo>
                  <a:pt x="0" y="533400"/>
                </a:moveTo>
                <a:lnTo>
                  <a:pt x="76200" y="533400"/>
                </a:lnTo>
                <a:lnTo>
                  <a:pt x="76200" y="0"/>
                </a:lnTo>
                <a:lnTo>
                  <a:pt x="279400" y="0"/>
                </a:lnTo>
                <a:lnTo>
                  <a:pt x="279400" y="533400"/>
                </a:lnTo>
                <a:lnTo>
                  <a:pt x="355600" y="533400"/>
                </a:lnTo>
              </a:path>
            </a:pathLst>
          </a:custGeom>
          <a:noFill/>
          <a:ln w="3048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1500" y="965200"/>
            <a:ext cx="508000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000" b="0" i="0">
                <a:solidFill>
                  <a:srgbClr val="4C78A8"/>
                </a:solidFill>
                <a:latin typeface="Helvetica Neue"/>
              </a:rPr>
              <a:t>+1</a:t>
            </a:r>
          </a:p>
        </p:txBody>
      </p:sp>
      <p:sp>
        <p:nvSpPr>
          <p:cNvPr id="19" name="Freeform 18"/>
          <p:cNvSpPr/>
          <p:nvPr/>
        </p:nvSpPr>
        <p:spPr>
          <a:xfrm>
            <a:off x="66290190000" y="27741880000"/>
            <a:ext cx="4516120000" cy="6774180000"/>
          </a:xfrm>
          <a:custGeom>
            <a:avLst/>
            <a:gdLst/>
            <a:ahLst/>
            <a:cxnLst/>
            <a:rect l="l" t="t" r="r" b="b"/>
            <a:pathLst>
              <a:path w="355600" h="533400">
                <a:moveTo>
                  <a:pt x="0" y="533400"/>
                </a:moveTo>
                <a:lnTo>
                  <a:pt x="76200" y="533400"/>
                </a:lnTo>
                <a:lnTo>
                  <a:pt x="76200" y="0"/>
                </a:lnTo>
                <a:lnTo>
                  <a:pt x="279400" y="0"/>
                </a:lnTo>
                <a:lnTo>
                  <a:pt x="279400" y="533400"/>
                </a:lnTo>
                <a:lnTo>
                  <a:pt x="355600" y="533400"/>
                </a:lnTo>
              </a:path>
            </a:pathLst>
          </a:custGeom>
          <a:noFill/>
          <a:ln w="30480">
            <a:solidFill>
              <a:srgbClr val="E4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0" y="2806700"/>
            <a:ext cx="508000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000" b="0" i="0">
                <a:solidFill>
                  <a:srgbClr val="E4794A"/>
                </a:solidFill>
                <a:latin typeface="Helvetica Neue"/>
              </a:rPr>
              <a:t>+1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95500" y="3276600"/>
            <a:ext cx="6451600" cy="0"/>
          </a:xfrm>
          <a:prstGeom prst="line">
            <a:avLst/>
          </a:prstGeom>
          <a:ln w="1778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623300" y="3139440"/>
            <a:ext cx="508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time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02700" y="1143000"/>
            <a:ext cx="0" cy="2133600"/>
          </a:xfrm>
          <a:prstGeom prst="line">
            <a:avLst/>
          </a:prstGeom>
          <a:ln w="20320">
            <a:solidFill>
              <a:srgbClr val="3366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19236" y="853440"/>
            <a:ext cx="566928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00" b="1" i="0">
                <a:solidFill>
                  <a:srgbClr val="336633"/>
                </a:solidFill>
                <a:latin typeface="Helvetica Neue"/>
              </a:rPr>
              <a:t>recall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53500" y="1828800"/>
            <a:ext cx="279400" cy="0"/>
          </a:xfrm>
          <a:prstGeom prst="line">
            <a:avLst/>
          </a:prstGeom>
          <a:ln w="1905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83700" y="1422400"/>
            <a:ext cx="2489200" cy="812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F3F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766" y="1578610"/>
            <a:ext cx="1433068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3F3F3F"/>
                </a:solidFill>
                <a:latin typeface="Helvetica Neue"/>
              </a:rPr>
              <a:t>Which side had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6490" y="1819910"/>
            <a:ext cx="1023619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3F3F3F"/>
                </a:solidFill>
                <a:latin typeface="Helvetica Neue"/>
              </a:rPr>
              <a:t>more cues?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704" y="2379980"/>
            <a:ext cx="2425192" cy="3200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400" b="1" i="0">
                <a:solidFill>
                  <a:srgbClr val="336633"/>
                </a:solidFill>
                <a:latin typeface="Helvetica Neue"/>
              </a:rPr>
              <a:t>→  LEFT wins  (3 vs 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