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hierarchical cue accumulation (the only all-✓ row):</a:t>
            </a:r>
          </a:p>
          <a:p/>
          <a:p>
            <a:r>
              <a:t>Column meanings:</a:t>
            </a:r>
          </a:p>
          <a:p>
            <a:r>
              <a:t>• Temporal credit — the setup requires AND supports non-trivial credit across time. A vanilla (α=1) tanh RNN has a ~1-step Jacobian, so its eligibility trace carries nothing and e-prop collapses to d=0 (✗); a leaky RNN's (1-α) leak carries it forward (✓).</a:t>
            </a:r>
          </a:p>
          <a:p>
            <a:r>
              <a:t>• Depth credit — the task needs a LEARNED lower layer (a hierarchy), not just a trained readout.</a:t>
            </a:r>
          </a:p>
          <a:p>
            <a:r>
              <a:t>• Both at once — time and depth credit are entangled and both required (non-decomposable); this is the actual E5 research question.</a:t>
            </a:r>
          </a:p>
          <a:p>
            <a:r>
              <a:t>• Works w/o spikes — runs in a non-spiking leaky/tanh RNN, no surrogate-gradient SNN needed. SHD is a spiking benchmark, so a non-spiking net defeats the point (✗).</a:t>
            </a:r>
          </a:p>
          <a:p>
            <a:r>
              <a:t>• Cheap (many seeds) — sequences short enough for many-seed significance testing (16 cosine seeds, n*=8). sMNIST's 784 steps make e-prop too slow (✗).</a:t>
            </a:r>
          </a:p>
          <a:p>
            <a:r>
              <a:t>• Reservoir-proof — a frozen RANDOM lower layer fails, so depth credit is genuinely required and ablate_spatial provably breaks the task. The hierarchical motifs are mean-zero and equal-energy, so no static/random projection can separate them — the lower layer MUST learn. Store-and-recall (value is in the input) and cue accumulation (linearly separable pulses) are reservoir-cheatable (✗).</a:t>
            </a:r>
          </a:p>
          <a:p/>
          <a:p>
            <a:r>
              <a:t>Takeaway: only hierarchical cue accumulation ticks every box — it is the decisive simultaneous time-and-depth credit-assignment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Experiment 5 — task choice: why hierarchical cue accumulation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7455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91412"/>
                <a:gridCol w="1391412"/>
                <a:gridCol w="1391412"/>
                <a:gridCol w="1391412"/>
                <a:gridCol w="1391412"/>
                <a:gridCol w="1391412"/>
              </a:tblGrid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 (setup)</a:t>
                      </a:r>
                    </a:p>
                  </a:txBody>
                  <a:tcPr anchor="ctr" marL="36576" marR="36576" marT="18288" marB="18288">
                    <a:solidFill>
                      <a:srgbClr val="2F39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Temporal
credit</a:t>
                      </a:r>
                    </a:p>
                  </a:txBody>
                  <a:tcPr anchor="ctr" marL="36576" marR="36576" marT="18288" marB="18288">
                    <a:solidFill>
                      <a:srgbClr val="2F39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Depth
credit</a:t>
                      </a:r>
                    </a:p>
                  </a:txBody>
                  <a:tcPr anchor="ctr" marL="36576" marR="36576" marT="18288" marB="18288">
                    <a:solidFill>
                      <a:srgbClr val="2F39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Both
at once</a:t>
                      </a:r>
                    </a:p>
                  </a:txBody>
                  <a:tcPr anchor="ctr" marL="36576" marR="36576" marT="18288" marB="18288">
                    <a:solidFill>
                      <a:srgbClr val="2F39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Works
w/o spikes</a:t>
                      </a:r>
                    </a:p>
                  </a:txBody>
                  <a:tcPr anchor="ctr" marL="36576" marR="36576" marT="18288" marB="18288">
                    <a:solidFill>
                      <a:srgbClr val="2F39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Cheap
(many seeds)</a:t>
                      </a:r>
                    </a:p>
                  </a:txBody>
                  <a:tcPr anchor="ctr" marL="36576" marR="36576" marT="18288" marB="18288">
                    <a:solidFill>
                      <a:srgbClr val="2F39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Reservoir-
proof</a:t>
                      </a:r>
                    </a:p>
                  </a:txBody>
                  <a:tcPr anchor="ctr" marL="36576" marR="36576" marT="18288" marB="18288">
                    <a:solidFill>
                      <a:srgbClr val="2F3952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Store &amp; recall (vanilla)</a:t>
                      </a:r>
                    </a:p>
                  </a:txBody>
                  <a:tcPr anchor="ctr"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Store &amp; recall (leaky)</a:t>
                      </a:r>
                    </a:p>
                  </a:txBody>
                  <a:tcPr anchor="ctr"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Cue accumulation (vanilla)</a:t>
                      </a:r>
                    </a:p>
                  </a:txBody>
                  <a:tcPr anchor="ctr"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Cue accumulation (leaky)</a:t>
                      </a:r>
                    </a:p>
                  </a:txBody>
                  <a:tcPr anchor="ctr"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Hierarchical cue accum. (leaky)</a:t>
                      </a:r>
                    </a:p>
                  </a:txBody>
                  <a:tcPr anchor="ctr" marL="36576" marR="36576" marT="18288" marB="18288">
                    <a:solidFill>
                      <a:srgbClr val="FFD9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sMNIST (leaky)</a:t>
                      </a:r>
                    </a:p>
                  </a:txBody>
                  <a:tcPr anchor="ctr"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8A6D00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36576" marR="36576" marT="18288" marB="18288">
                    <a:solidFill>
                      <a:srgbClr val="FFEB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8A6D00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36576" marR="36576" marT="18288" marB="18288">
                    <a:solidFill>
                      <a:srgbClr val="FFEB9C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SHD (spiking LIF/ALIF)</a:t>
                      </a:r>
                    </a:p>
                  </a:txBody>
                  <a:tcPr anchor="ctr"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6B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36576" marR="36576" marT="18288" marB="18288"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8A6D00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36576" marR="36576" marT="18288" marB="18288">
                    <a:solidFill>
                      <a:srgbClr val="FFEB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9C1B1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36576" marR="36576" marT="18288" marB="18288">
                    <a:solidFill>
                      <a:srgbClr val="F2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8A6D00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36576" marR="36576" marT="18288" marB="18288">
                    <a:solidFill>
                      <a:srgbClr val="FFEB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8A6D00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36576" marR="36576" marT="18288" marB="18288">
                    <a:solidFill>
                      <a:srgbClr val="FFEB9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alibri"/>
              </a:rPr>
              <a:t>✓  has it      ✗  lacks it      ?  partial / depends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